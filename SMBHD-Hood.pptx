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69" r:id="rId16"/>
    <p:sldId id="270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676EDE-4DA2-4712-8404-8B73FE2FD247}" v="81" dt="2026-01-20T09:02:05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3" autoAdjust="0"/>
    <p:restoredTop sz="94660"/>
  </p:normalViewPr>
  <p:slideViewPr>
    <p:cSldViewPr snapToGrid="0">
      <p:cViewPr varScale="1">
        <p:scale>
          <a:sx n="90" d="100"/>
          <a:sy n="90" d="100"/>
        </p:scale>
        <p:origin x="66" y="4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F3B93-C705-4BAD-81B7-E7A93F526D6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6868B1-63B3-4457-868D-A64A693A22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30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helped to directly shape the schema and validation logic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868B1-63B3-4457-868D-A64A693A221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386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31E3-6E1C-DB03-6C69-325B949E6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082E4D-FC34-C9FF-10D1-E4321D2D1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78388-5C6D-1B6C-0FBD-581CD5252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helped to directly shape the schema and validation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24EC7-78BE-6720-4040-9FF94523FF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868B1-63B3-4457-868D-A64A693A221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410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C738-343D-4764-6E1A-B4E67E59D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86F22A-F7BD-D841-88BC-CD60CE65E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0ED33-A003-E1D2-E9FD-2DD699F44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helped to directly shape the schema and validation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03A32-CD8A-FF92-E6DD-783AA6F1F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868B1-63B3-4457-868D-A64A693A221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956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672A6-DB7F-8ECF-D0C6-0C78C5D84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C8433-0AFA-0B3E-9D2B-C5A64076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5F96B-30E2-B0BC-69DA-416EA4385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helped to directly shape the schema and validation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D818-466D-7C98-3797-49601AEC09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6868B1-63B3-4457-868D-A64A693A221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73BFC-835E-2775-4151-8DF276018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EF0420-FA92-28C7-A821-A50DD4A3F1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0BFF3-7E22-904A-E8BE-F9EB2BDFB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A07CA-41C3-7C50-DC9B-25786D234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D6E80-B363-5A5B-C4DE-5DED1917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136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86EE4-37A4-6348-D0FD-7750B86B6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3307D-5841-FA87-A231-FE9D84992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72455-07DA-4360-B19A-1CA25F801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2F736-CFD8-222D-DD4F-180D0EBBE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8F55E-7257-D8F9-4E60-05781C069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9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E1201-084D-FB0B-3017-758DE8B42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258C5C-88F0-D32B-5854-3EF57B79D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8AFB6-9ADB-5A94-63B8-8F95D5E54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7D2E5-7870-A941-81CC-E92B9ECB1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E748-760A-1030-08E3-9D50082B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32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89BA-CA9B-82B2-C835-E52ADEA47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CDAC-8BFE-06BA-CAD7-EDA5464254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80DD7-0FD9-CB7F-C08B-DF9DBF4F3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90579-414E-BE6D-3699-F29C124B2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B2116-B21A-3266-B77F-6D94B94BD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0C12A-D6A0-30E7-87A1-2C8116EE7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78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A9745-665F-24C9-C87E-1FA487BD4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0B739-C048-92D2-8478-143B55F88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26CAF3-3911-B0DE-6B89-2AF497D04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9F249B-F269-93B7-D34C-68E9B83B81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B2C29-F2BF-FC40-33D3-DDD43F273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0A1794-4D95-8FA5-ACE1-0E5C770F9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A4195-1CE1-73E6-3A13-42180ABE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90E2C7-5779-BA6E-F33E-E06BB4C75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9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F7E5F-AF62-57D6-69D6-B462EDA57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CE20A0-7182-0037-2730-5587B65F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3DFFC7-EC0A-F930-9F2E-CABA8481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E399F-9677-1AA0-C73B-AB2F76A03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481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E827B2-566C-C50A-BE00-8B1DB0457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D45F30-D7AF-E58D-BDFF-B835FA964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F54B6-9482-8C29-6376-B6375A44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0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0B4A-BA78-82AF-5501-D3EAE562A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47C7E-CF35-1A21-E864-C4C4A2A48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CEC73-3D4C-4727-DC87-B3811AE47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6517B-0B0F-0988-2210-AA4F1DAE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FEBD85-F914-0743-4989-8FB86EEE7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5A09ED-6450-3531-EEFB-58916143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90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B5E1-1710-51AC-EB75-30676E48A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8EA2DB-7263-D1FC-22E0-0296FC09C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C089-BB2A-B08D-EA4A-A7F5F516B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795FAA-3E35-0C3D-169B-428B98357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FEC22-B3E9-9758-FE85-811EE66A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79225-E675-7B8D-F7D6-70AF5B462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79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B063-1D33-155F-1D0D-92922325A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AC7E72-7DAA-EE9F-0326-18B5167D7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9761D5-C792-4B14-883A-A2660FFDA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7A00A-4AB2-9916-1B35-AE919E5B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E405D-4FEC-7499-A983-6C6BEDEF1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903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34C82D-9002-6054-C9D5-6121418788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5ACD79-0EF5-481C-D35D-BF2343F433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4C025-7F44-8D47-789F-80C2A7777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E27CA-C5E8-67A6-DB8D-7AF4DCEC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E3951-E0E9-4261-972D-AD4CF4FFD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033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1A59F-7765-AD2F-3F52-2152D4C52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F6B76A-2F9D-309B-77B9-9BA5C0926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7ECB8-FA0E-BB74-B333-BBB5B6AB12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6C8750-845F-47CD-9724-B92D804A6AB9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18062-3902-9D2B-1158-374C7F45F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CE191-CE19-8811-00D1-5A740A12E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08922-B130-41D8-9EE3-46D1C72AD6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5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i.imgur.com/9egWHHn.png" TargetMode="External"/><Relationship Id="rId5" Type="http://schemas.openxmlformats.org/officeDocument/2006/relationships/hyperlink" Target="https://i.imgur.com/g8MaXSQ.png" TargetMode="External"/><Relationship Id="rId4" Type="http://schemas.openxmlformats.org/officeDocument/2006/relationships/hyperlink" Target="https://i.imgur.com/m8PIKy3.png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linkedin.com/in/adhood/" TargetMode="External"/><Relationship Id="rId5" Type="http://schemas.openxmlformats.org/officeDocument/2006/relationships/hyperlink" Target="mailto:andrewdavidhood@gmail.com" TargetMode="External"/><Relationship Id="rId4" Type="http://schemas.openxmlformats.org/officeDocument/2006/relationships/hyperlink" Target="https://github.com/andrewdhood/SMBHD/tree/main/src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white circles&#10;&#10;AI-generated content may be incorrect.">
            <a:extLst>
              <a:ext uri="{FF2B5EF4-FFF2-40B4-BE49-F238E27FC236}">
                <a16:creationId xmlns:a16="http://schemas.microsoft.com/office/drawing/2014/main" id="{321CA9D5-01C0-007D-C3CE-286B7815FC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0E8639-2BA0-B7C8-7455-4811A636C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383" y="933579"/>
            <a:ext cx="1155469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SMBHD</a:t>
            </a:r>
            <a:br>
              <a:rPr lang="en-US" dirty="0"/>
            </a:br>
            <a:r>
              <a:rPr lang="en-US" dirty="0"/>
              <a:t>Mission Command: Real-Time Hero Deployment in Salesforce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FEC18-399C-297E-677D-CF4597091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08518"/>
            <a:ext cx="9144000" cy="1655762"/>
          </a:xfrm>
        </p:spPr>
        <p:txBody>
          <a:bodyPr>
            <a:normAutofit fontScale="85000" lnSpcReduction="10000"/>
          </a:bodyPr>
          <a:lstStyle/>
          <a:p>
            <a:r>
              <a:rPr lang="en-US" sz="3600" dirty="0"/>
              <a:t>Technical Architecture and Implementation Demo</a:t>
            </a:r>
          </a:p>
          <a:p>
            <a:r>
              <a:rPr lang="en-US" sz="3600" dirty="0"/>
              <a:t>Andrew Hood</a:t>
            </a:r>
          </a:p>
          <a:p>
            <a:r>
              <a:rPr lang="en-US" sz="3600" dirty="0"/>
              <a:t>January 20</a:t>
            </a:r>
            <a:r>
              <a:rPr lang="en-US" sz="3600" baseline="30000" dirty="0"/>
              <a:t>th</a:t>
            </a:r>
            <a:r>
              <a:rPr lang="en-US" sz="3600" dirty="0"/>
              <a:t>, 2026</a:t>
            </a:r>
          </a:p>
        </p:txBody>
      </p:sp>
      <p:pic>
        <p:nvPicPr>
          <p:cNvPr id="9" name="Picture 8" descr="A blue letter on a white background&#10;&#10;AI-generated content may be incorrect.">
            <a:extLst>
              <a:ext uri="{FF2B5EF4-FFF2-40B4-BE49-F238E27FC236}">
                <a16:creationId xmlns:a16="http://schemas.microsoft.com/office/drawing/2014/main" id="{2CD52041-10A4-AB6F-7D86-67BCFB76AF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900" y="6183703"/>
            <a:ext cx="1953173" cy="41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85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0118A097-1D0E-6E36-AB49-29F9809319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DF2EEE-4988-DCAD-40AE-B46B0363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Justice Alliance Needs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9A6C2-6B22-059F-18DD-B3EEBEC5C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364" cy="4351338"/>
          </a:xfrm>
        </p:spPr>
        <p:txBody>
          <a:bodyPr/>
          <a:lstStyle/>
          <a:p>
            <a:r>
              <a:rPr lang="en-US" dirty="0"/>
              <a:t>An increase in global threats necessitates rapid superhero response</a:t>
            </a:r>
          </a:p>
          <a:p>
            <a:r>
              <a:rPr lang="en-US" dirty="0"/>
              <a:t>Current process: standard SF record page</a:t>
            </a:r>
          </a:p>
          <a:p>
            <a:r>
              <a:rPr lang="en-US" dirty="0"/>
              <a:t>User pain points: too slow for real-time crisis management</a:t>
            </a:r>
          </a:p>
          <a:p>
            <a:r>
              <a:rPr lang="en-US" dirty="0"/>
              <a:t>Stakeholder needs: a new, visual, “Mission Command” interface</a:t>
            </a:r>
          </a:p>
          <a:p>
            <a:pPr lvl="1"/>
            <a:r>
              <a:rPr lang="en-US" dirty="0"/>
              <a:t>Custom console that should live on a mission record page</a:t>
            </a:r>
          </a:p>
          <a:p>
            <a:pPr lvl="1"/>
            <a:r>
              <a:rPr lang="en-US" dirty="0"/>
              <a:t>Must allow mission leaders to visualize available roster of heroes</a:t>
            </a:r>
          </a:p>
          <a:p>
            <a:pPr lvl="1"/>
            <a:r>
              <a:rPr lang="en-US" dirty="0"/>
              <a:t>Must allow leaders to quickly deploy heroes to current mission</a:t>
            </a:r>
          </a:p>
          <a:p>
            <a:pPr lvl="1"/>
            <a:r>
              <a:rPr lang="en-US" dirty="0"/>
              <a:t>UI must update immediately</a:t>
            </a:r>
          </a:p>
          <a:p>
            <a:pPr lvl="1"/>
            <a:r>
              <a:rPr lang="en-US" dirty="0"/>
              <a:t>“Feel native”</a:t>
            </a:r>
          </a:p>
          <a:p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B912F39E-6C92-1A70-6786-959C494D52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1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6F038-876E-69C4-852F-02B9BF91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5D79F344-72E3-6E36-724B-323EF6FC58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487186-F4B6-E705-678D-5378EC6A1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Functional Requirements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59D67-76B8-21F4-1701-537999A0D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36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Display </a:t>
            </a:r>
            <a:r>
              <a:rPr lang="en-US" b="1" dirty="0"/>
              <a:t>hero roster </a:t>
            </a:r>
            <a:r>
              <a:rPr lang="en-US" dirty="0"/>
              <a:t>using visual cards (not a standard data table)</a:t>
            </a:r>
          </a:p>
          <a:p>
            <a:r>
              <a:rPr lang="en-US" dirty="0"/>
              <a:t>Display each </a:t>
            </a:r>
            <a:r>
              <a:rPr lang="en-US" b="1" dirty="0"/>
              <a:t>hero card </a:t>
            </a:r>
            <a:r>
              <a:rPr lang="en-US" dirty="0"/>
              <a:t>in a responsive grid</a:t>
            </a:r>
          </a:p>
          <a:p>
            <a:r>
              <a:rPr lang="en-US" dirty="0"/>
              <a:t>Allow filtering by power type</a:t>
            </a:r>
          </a:p>
          <a:p>
            <a:r>
              <a:rPr lang="en-US" dirty="0"/>
              <a:t>Injured superheroes should be excluded from roster</a:t>
            </a:r>
          </a:p>
          <a:p>
            <a:r>
              <a:rPr lang="en-US" dirty="0"/>
              <a:t>Visual status should indicate availability</a:t>
            </a:r>
          </a:p>
          <a:p>
            <a:pPr lvl="1"/>
            <a:r>
              <a:rPr lang="en-US" dirty="0"/>
              <a:t>If available: show green icon</a:t>
            </a:r>
          </a:p>
          <a:p>
            <a:pPr lvl="1"/>
            <a:r>
              <a:rPr lang="en-US" dirty="0"/>
              <a:t>If on mission: show red icon</a:t>
            </a:r>
          </a:p>
          <a:p>
            <a:r>
              <a:rPr lang="en-US" dirty="0"/>
              <a:t>Deploy heroes with a single click</a:t>
            </a:r>
          </a:p>
          <a:p>
            <a:r>
              <a:rPr lang="en-US" dirty="0"/>
              <a:t>Enforce maximum of 3 heroes per mission</a:t>
            </a:r>
          </a:p>
          <a:p>
            <a:r>
              <a:rPr lang="en-US" dirty="0"/>
              <a:t>UI should be immediately responsive – no page refresh*</a:t>
            </a:r>
          </a:p>
          <a:p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3463BE06-CAAD-F378-4947-31AFC8836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1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0F9D28-9868-6C9E-D10F-C485F4059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36F0BD31-BA37-DC66-35C1-72C7B93970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FA42C5-E5D4-EF1A-17C7-8BFF2187F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Technical Requirements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10C3-E426-2EA6-3531-7641FDAE4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4364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Should feel like part of the “Native” Lightning Experience</a:t>
            </a:r>
          </a:p>
          <a:p>
            <a:r>
              <a:rPr lang="en-US" dirty="0"/>
              <a:t>Apex Trigger on Mission Assignment object</a:t>
            </a:r>
          </a:p>
          <a:p>
            <a:r>
              <a:rPr lang="en-US" dirty="0"/>
              <a:t>Scalable code</a:t>
            </a:r>
          </a:p>
          <a:p>
            <a:pPr lvl="1"/>
            <a:r>
              <a:rPr lang="en-US" dirty="0"/>
              <a:t>Apex logic is bulkified</a:t>
            </a:r>
          </a:p>
          <a:p>
            <a:pPr lvl="1"/>
            <a:r>
              <a:rPr lang="en-US" dirty="0"/>
              <a:t>Design patterns </a:t>
            </a:r>
          </a:p>
          <a:p>
            <a:pPr lvl="1"/>
            <a:r>
              <a:rPr lang="en-US" dirty="0"/>
              <a:t>Apex design pattern best practices (e.g. </a:t>
            </a:r>
            <a:r>
              <a:rPr lang="en-US" dirty="0" err="1"/>
              <a:t>TriggerHandler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Test-Driven Development</a:t>
            </a:r>
          </a:p>
          <a:p>
            <a:r>
              <a:rPr lang="en-US" dirty="0"/>
              <a:t>UI should be immediately responsive – no page refresh*</a:t>
            </a:r>
          </a:p>
          <a:p>
            <a:r>
              <a:rPr lang="en-US" dirty="0"/>
              <a:t>Parse error messages to make them user-friendly</a:t>
            </a:r>
          </a:p>
          <a:p>
            <a:r>
              <a:rPr lang="en-US" dirty="0"/>
              <a:t>Must work in the UI and via the API</a:t>
            </a:r>
          </a:p>
          <a:p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1194E977-37A6-4820-1F4D-1674E3588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68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4F6F23-99F8-DB8A-F35B-8F02FEF9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E9AE44C4-B103-AF1E-3B46-41E27BC22F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B47D64-8F9D-6024-FC64-FD895ED3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Clarifying Questions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66BA7-DBAC-1214-E8D8-60C4D3C40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 missions have a specific start and end date (or </a:t>
            </a:r>
            <a:r>
              <a:rPr lang="en-US" dirty="0" err="1"/>
              <a:t>dateTime</a:t>
            </a:r>
            <a:r>
              <a:rPr lang="en-US" dirty="0"/>
              <a:t>)? e.g. Should missions be able to be scheduled? </a:t>
            </a:r>
          </a:p>
          <a:p>
            <a:r>
              <a:rPr lang="en-US" dirty="0"/>
              <a:t>What should happen to mission assignment records when their respective mission is marked as complete? Should we distinguish between mission assignments that are scheduled vs complete for reporting purposes?</a:t>
            </a:r>
          </a:p>
          <a:p>
            <a:r>
              <a:rPr lang="en-US" dirty="0"/>
              <a:t>Can a hero be assigned to multiple missions simultaneously (assuming no time conflicts), or is it strictly one "active" mission at a time?</a:t>
            </a:r>
          </a:p>
          <a:p>
            <a:r>
              <a:rPr lang="en-US" dirty="0"/>
              <a:t>What determines when a hero transitions from "Injured" back to "Available"? Is this process a manual update, or can I implement a recovery date field?</a:t>
            </a:r>
          </a:p>
          <a:p>
            <a:r>
              <a:rPr lang="en-US" dirty="0"/>
              <a:t>What Salesforce license(s) does the Justice Alliance hold?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96C1EE17-0BF1-FF9A-A0D4-D550AD824B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3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FBC0D2-3B19-328A-93F8-83D773CD1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2786B315-1AD4-D3F1-07FA-608D9A3D20E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C245CF-24A7-2822-FB33-F772C133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Answers and Assumptions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763FC-DBBD-FCD1-CFB6-3E66E9C0B1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Do missions have a specific start and end date (or </a:t>
            </a:r>
            <a:r>
              <a:rPr lang="en-US" dirty="0" err="1"/>
              <a:t>dateTime</a:t>
            </a:r>
            <a:r>
              <a:rPr lang="en-US" dirty="0"/>
              <a:t>)? e.g. Should missions be able to be scheduled? </a:t>
            </a:r>
          </a:p>
          <a:p>
            <a:r>
              <a:rPr lang="en-US" dirty="0"/>
              <a:t>What should happen to mission assignment records when their respective mission is marked as complete? Should we distinguish between mission assignments that are scheduled vs complete for reporting purposes?</a:t>
            </a:r>
          </a:p>
          <a:p>
            <a:r>
              <a:rPr lang="en-US" dirty="0"/>
              <a:t>Can a hero be assigned to multiple missions simultaneously (assuming no time conflicts), or is it strictly one "active" mission at a time?</a:t>
            </a:r>
          </a:p>
          <a:p>
            <a:r>
              <a:rPr lang="en-US" dirty="0"/>
              <a:t>What determines when a hero transitions from "Injured" back to "Available"? Is this process a manual update, or can I implement a recovery date field?</a:t>
            </a:r>
          </a:p>
          <a:p>
            <a:endParaRPr lang="en-US" dirty="0"/>
          </a:p>
          <a:p>
            <a:r>
              <a:rPr lang="en-US" dirty="0"/>
              <a:t>What Salesforce license(s) does the Justice Alliance hold?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12EE51-BA02-D6AD-E092-CD8B89C62B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No – keep it simple.</a:t>
            </a:r>
          </a:p>
          <a:p>
            <a:endParaRPr lang="en-US" dirty="0"/>
          </a:p>
          <a:p>
            <a:r>
              <a:rPr lang="en-US" dirty="0"/>
              <a:t>Let records accumulate; possibly export to data warehouse for completed missions in a future enhancement via Apex batch job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Strictly one active mission at a time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process is a manual update.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Best licenses available.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E3343BE4-9FB4-43A8-6290-7DAED67F82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646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5B7D5-55DF-642C-4701-B1609398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8DE70D96-B32F-C712-9227-8B561E38A15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C74E43-99EE-1300-E8A3-B29036DB6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Architectural Design Considerations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64A825-EDA8-4D02-25FD-111BB760C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Declarative-first implementation solutions I considered:</a:t>
            </a:r>
          </a:p>
          <a:p>
            <a:r>
              <a:rPr lang="en-US" dirty="0"/>
              <a:t>Matching Rules and Duplicate Rules for duplicate prevention</a:t>
            </a:r>
          </a:p>
          <a:p>
            <a:r>
              <a:rPr lang="en-US" dirty="0"/>
              <a:t>Roll-up Summary &amp; Validation Rule for team capacity (max 3 heroes)</a:t>
            </a:r>
          </a:p>
          <a:p>
            <a:r>
              <a:rPr lang="en-US" dirty="0"/>
              <a:t>Record-triggered flow for status updates</a:t>
            </a:r>
          </a:p>
          <a:p>
            <a:r>
              <a:rPr lang="en-US" dirty="0"/>
              <a:t>Master-Detail relationship for the junction object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However, after reviewing these options, I realized some Salesforce limitations that necessitate an Apex-heavy approach.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765C464F-8B94-A840-204F-35EBB2AD7E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958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2C010-4669-C558-6C8D-954065E2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7F27476D-5995-5D88-8A9E-478AAA5AE67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CA41FC-D547-0173-7094-C9E8134B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 #1 – Matching Rules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82355-97AA-F721-9621-E387577CBB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/>
          </a:bodyPr>
          <a:lstStyle/>
          <a:p>
            <a:r>
              <a:rPr lang="en-US" b="1" dirty="0"/>
              <a:t>Plan</a:t>
            </a:r>
            <a:r>
              <a:rPr lang="en-US" dirty="0"/>
              <a:t>: Create a Matching Rule on </a:t>
            </a:r>
            <a:r>
              <a:rPr lang="en-US" dirty="0" err="1"/>
              <a:t>Mission_Assignment__c</a:t>
            </a:r>
            <a:r>
              <a:rPr lang="en-US" dirty="0"/>
              <a:t> matching 		on both </a:t>
            </a:r>
            <a:r>
              <a:rPr lang="en-US" dirty="0" err="1"/>
              <a:t>Superhero__c</a:t>
            </a:r>
            <a:r>
              <a:rPr lang="en-US" dirty="0"/>
              <a:t> </a:t>
            </a:r>
            <a:r>
              <a:rPr lang="en-US" b="1" dirty="0"/>
              <a:t>and</a:t>
            </a:r>
            <a:r>
              <a:rPr lang="en-US" dirty="0"/>
              <a:t> </a:t>
            </a:r>
            <a:r>
              <a:rPr lang="en-US" dirty="0" err="1"/>
              <a:t>Mission__c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Salesforce limits Custom Object Matching Rules to one 		lookup field</a:t>
            </a:r>
          </a:p>
          <a:p>
            <a:endParaRPr lang="en-US" dirty="0"/>
          </a:p>
          <a:p>
            <a:r>
              <a:rPr lang="en-US" b="1" dirty="0"/>
              <a:t>Result</a:t>
            </a:r>
            <a:r>
              <a:rPr lang="en-US" dirty="0"/>
              <a:t>: Cannot deploy Matching Rule or dependent Duplicate Rule</a:t>
            </a:r>
          </a:p>
          <a:p>
            <a:endParaRPr lang="en-US" dirty="0"/>
          </a:p>
          <a:p>
            <a:r>
              <a:rPr lang="en-US" b="1" dirty="0"/>
              <a:t>Fix</a:t>
            </a:r>
            <a:r>
              <a:rPr lang="en-US" dirty="0"/>
              <a:t>: Move uniqueness validation to Apex:  </a:t>
            </a:r>
            <a: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before insert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859468D6-C054-10B6-53DA-E52F5C7239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4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5009D-11CB-F0A8-C573-149A937D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FDC7EDE3-A329-AAF6-28D9-E0C70919A0C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C160CC-7A52-D2CD-5B18-AB993FC75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 #2 – Roll-Up Summary Timing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A265F-44A5-5F48-E001-14EA0125D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Plan</a:t>
            </a:r>
            <a:r>
              <a:rPr lang="en-US" dirty="0"/>
              <a:t>: Create Hero_Count__c field on Mission Assignment object and enforce logic using a 	Validation Rule</a:t>
            </a:r>
          </a:p>
          <a:p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Order of Execution problem:</a:t>
            </a:r>
          </a:p>
          <a:p>
            <a:pPr marL="914400" lvl="1" indent="-457200">
              <a:buAutoNum type="arabicPeriod"/>
            </a:pPr>
            <a:r>
              <a:rPr lang="en-US" dirty="0"/>
              <a:t>Before triggers run</a:t>
            </a:r>
          </a:p>
          <a:p>
            <a:pPr marL="914400" lvl="1" indent="-457200">
              <a:buAutoNum type="arabicPeriod"/>
            </a:pPr>
            <a:r>
              <a:rPr lang="en-US" dirty="0"/>
              <a:t>Validation rules run (reading stale count of heroes!)</a:t>
            </a:r>
          </a:p>
          <a:p>
            <a:pPr marL="914400" lvl="1" indent="-457200">
              <a:buAutoNum type="arabicPeriod"/>
            </a:pPr>
            <a:r>
              <a:rPr lang="en-US" dirty="0"/>
              <a:t>Record saves</a:t>
            </a:r>
          </a:p>
          <a:p>
            <a:pPr marL="914400" lvl="1" indent="-457200">
              <a:buAutoNum type="arabicPeriod"/>
            </a:pPr>
            <a:r>
              <a:rPr lang="en-US" dirty="0"/>
              <a:t>After triggers run</a:t>
            </a:r>
          </a:p>
          <a:p>
            <a:pPr marL="914400" lvl="1" indent="-457200">
              <a:buAutoNum type="arabicPeriod"/>
            </a:pPr>
            <a:r>
              <a:rPr lang="en-US" dirty="0"/>
              <a:t>Roll-Up recalculates (too late!!)</a:t>
            </a:r>
          </a:p>
          <a:p>
            <a:endParaRPr lang="en-US" dirty="0"/>
          </a:p>
          <a:p>
            <a:r>
              <a:rPr lang="en-US" b="1" dirty="0"/>
              <a:t>Result</a:t>
            </a:r>
            <a:r>
              <a:rPr lang="en-US" dirty="0"/>
              <a:t>: Failure scenario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Mission has 3 heroes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Validation Rule reads 3 (passes)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Allows 4</a:t>
            </a:r>
            <a:r>
              <a:rPr lang="en-US" baseline="30000" dirty="0"/>
              <a:t>th</a:t>
            </a:r>
            <a:r>
              <a:rPr lang="en-US" dirty="0"/>
              <a:t> hero to be added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Roll-Up summary updates to 4 after database commit</a:t>
            </a:r>
          </a:p>
          <a:p>
            <a:endParaRPr lang="en-US" dirty="0"/>
          </a:p>
          <a:p>
            <a:r>
              <a:rPr lang="en-US" b="1" dirty="0"/>
              <a:t>Fix</a:t>
            </a:r>
            <a:r>
              <a:rPr lang="en-US" dirty="0"/>
              <a:t>: Aggregate SOQL query in </a:t>
            </a:r>
            <a: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before insert </a:t>
            </a:r>
            <a:r>
              <a:rPr lang="en-US" dirty="0"/>
              <a:t>trigger for real-time count</a:t>
            </a:r>
          </a:p>
          <a:p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6740D772-2C1F-E1E4-B9CA-2C44470E73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4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C1C25-C3CF-2A2F-86A3-805D8DC04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B3C4C2B4-E6B9-357F-E2E1-CA8CB8651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17E831-CA1E-216D-75D0-B236C98C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 #3 – Why Not Flow?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0B29F-7B0E-4ABF-8225-F5D629004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Plan</a:t>
            </a:r>
            <a:r>
              <a:rPr lang="en-US" dirty="0"/>
              <a:t>: After Apex creates Mission Assignment, an after-save Flow could update hero status to “On Mission”</a:t>
            </a:r>
          </a:p>
          <a:p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Flow runs in a separate execution context</a:t>
            </a:r>
          </a:p>
          <a:p>
            <a:pPr lvl="1"/>
            <a:r>
              <a:rPr lang="en-US" dirty="0"/>
              <a:t>When Apex returns values to LWC, Flow may not have committed</a:t>
            </a:r>
          </a:p>
          <a:p>
            <a:pPr lvl="1"/>
            <a:r>
              <a:rPr lang="en-US" dirty="0"/>
              <a:t>UI might show stale information until manual refresh</a:t>
            </a:r>
          </a:p>
          <a:p>
            <a:endParaRPr lang="en-US" dirty="0"/>
          </a:p>
          <a:p>
            <a:r>
              <a:rPr lang="en-US" b="1" dirty="0"/>
              <a:t>Result</a:t>
            </a:r>
            <a:r>
              <a:rPr lang="en-US" dirty="0"/>
              <a:t>: Conflicts with the requirement that UI must update instantly</a:t>
            </a:r>
          </a:p>
          <a:p>
            <a:endParaRPr lang="en-US" dirty="0"/>
          </a:p>
          <a:p>
            <a:r>
              <a:rPr lang="en-US" b="1" dirty="0"/>
              <a:t>Fix</a:t>
            </a:r>
            <a:r>
              <a:rPr lang="en-US" dirty="0"/>
              <a:t>: Handle this in Apex to </a:t>
            </a:r>
            <a:r>
              <a:rPr lang="en-US" b="1" dirty="0"/>
              <a:t>ensure the same execution context </a:t>
            </a:r>
            <a:r>
              <a:rPr lang="en-US" dirty="0"/>
              <a:t>	runtime, we can control </a:t>
            </a:r>
            <a:r>
              <a:rPr lang="en-US" b="1" dirty="0"/>
              <a:t>when</a:t>
            </a:r>
            <a:r>
              <a:rPr lang="en-US" dirty="0"/>
              <a:t> this data is manipulated</a:t>
            </a:r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F5790FA2-A9E2-D977-B509-51249B0FA3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864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CE7BA0-60CE-BC15-D8DB-D7EC807AD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9EFCE3DF-9115-0612-60FC-502231494A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DBFD98-227C-84A8-340D-4A8B1354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 #4 – Master-Detail Row Locking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00257-2F26-B3DE-53BD-78ECFBD2E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1301443" cy="4802187"/>
          </a:xfrm>
        </p:spPr>
        <p:txBody>
          <a:bodyPr>
            <a:normAutofit/>
          </a:bodyPr>
          <a:lstStyle/>
          <a:p>
            <a:r>
              <a:rPr lang="en-US" b="1" dirty="0"/>
              <a:t>Plan</a:t>
            </a:r>
            <a:r>
              <a:rPr lang="en-US" dirty="0"/>
              <a:t>: Use Master-Detail relationships for the junction object</a:t>
            </a:r>
          </a:p>
          <a:p>
            <a:endParaRPr lang="en-US" dirty="0"/>
          </a:p>
          <a:p>
            <a:r>
              <a:rPr lang="en-US" b="1" dirty="0"/>
              <a:t>Problem</a:t>
            </a:r>
            <a:r>
              <a:rPr lang="en-US" dirty="0"/>
              <a:t>: M-D relationships lock the parent record during child DML</a:t>
            </a:r>
          </a:p>
          <a:p>
            <a:pPr lvl="1"/>
            <a:r>
              <a:rPr lang="en-US" dirty="0"/>
              <a:t>Two users deploy to same mission simultaneously</a:t>
            </a:r>
          </a:p>
          <a:p>
            <a:pPr lvl="1"/>
            <a:r>
              <a:rPr lang="en-US" dirty="0"/>
              <a:t>UNABLE_TO_LOCK_ROW errors</a:t>
            </a:r>
          </a:p>
          <a:p>
            <a:pPr lvl="1"/>
            <a:r>
              <a:rPr lang="en-US" dirty="0"/>
              <a:t>Do not want to implement manual locking and unlocking of records</a:t>
            </a:r>
          </a:p>
          <a:p>
            <a:endParaRPr lang="en-US" dirty="0"/>
          </a:p>
          <a:p>
            <a:r>
              <a:rPr lang="en-US" b="1" dirty="0"/>
              <a:t>Result</a:t>
            </a:r>
            <a:r>
              <a:rPr lang="en-US" dirty="0"/>
              <a:t>: UI failures during peak crisis response, the worst possible time</a:t>
            </a:r>
          </a:p>
          <a:p>
            <a:endParaRPr lang="en-US" dirty="0"/>
          </a:p>
          <a:p>
            <a:r>
              <a:rPr lang="en-US" b="1" dirty="0"/>
              <a:t>Fix</a:t>
            </a:r>
            <a:r>
              <a:rPr lang="en-US" dirty="0"/>
              <a:t>: Use lookup relationships: no implicit parent locking</a:t>
            </a:r>
            <a:endParaRPr lang="en-US" dirty="0">
              <a:latin typeface="Cascadia Mono SemiBold" panose="020B0609020000020004" pitchFamily="49" charset="0"/>
              <a:cs typeface="Cascadia Mono SemiBold" panose="020B0609020000020004" pitchFamily="49" charset="0"/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A585DFFA-3AE4-C7B8-AB72-1F12181587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77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3DC157-BF8F-07CF-B61C-29B085C13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8F9B50FD-8F24-F210-B0CA-1913090F46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5455F2-7614-B4BD-81AC-CE9747E3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Schema Design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1D70A-BCC8-D9CA-3FC2-2E1ED4C7B4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Lookups &gt; Master-Detail for the junction object</a:t>
            </a:r>
          </a:p>
          <a:p>
            <a:pPr lvl="1"/>
            <a:r>
              <a:rPr lang="en-US" dirty="0"/>
              <a:t>No row locking</a:t>
            </a:r>
          </a:p>
          <a:p>
            <a:pPr lvl="1"/>
            <a:r>
              <a:rPr lang="en-US" dirty="0"/>
              <a:t>Keep historical records</a:t>
            </a:r>
          </a:p>
          <a:p>
            <a:pPr lvl="1"/>
            <a:r>
              <a:rPr lang="en-US" dirty="0"/>
              <a:t>Independent sharing</a:t>
            </a:r>
          </a:p>
          <a:p>
            <a:pPr lvl="1"/>
            <a:r>
              <a:rPr lang="en-US" dirty="0"/>
              <a:t>Flexibility in reparenting</a:t>
            </a:r>
          </a:p>
          <a:p>
            <a:pPr lvl="1"/>
            <a:r>
              <a:rPr lang="en-US" dirty="0"/>
              <a:t>Tradeoffs:</a:t>
            </a:r>
          </a:p>
          <a:p>
            <a:pPr lvl="2"/>
            <a:r>
              <a:rPr lang="en-US" dirty="0"/>
              <a:t>Must handle cascade delete</a:t>
            </a:r>
          </a:p>
          <a:p>
            <a:pPr lvl="2"/>
            <a:r>
              <a:rPr lang="en-US" dirty="0"/>
              <a:t>Manual sharing</a:t>
            </a:r>
          </a:p>
        </p:txBody>
      </p:sp>
      <p:pic>
        <p:nvPicPr>
          <p:cNvPr id="8" name="Content Placeholder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457961-8155-68C0-221E-8F40D55A6B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598" y="1630846"/>
            <a:ext cx="6080440" cy="3596307"/>
          </a:xfrm>
        </p:spPr>
      </p:pic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4954FA8A-A5BD-D9AD-D75C-3C3217AB49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112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3E5D1-EF75-B636-32AB-0904AD60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2AFC5455-75DD-F885-5BD3-666A30AB3C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9B521-2233-04BA-EE82-0ED1BB57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Custom Metadata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25325-51BF-4539-6F43-A435C6C7E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/>
          </a:bodyPr>
          <a:lstStyle/>
          <a:p>
            <a:r>
              <a:rPr lang="en-US" dirty="0"/>
              <a:t>Hard-coding the maximum hero team size to 3 requires deployment to change</a:t>
            </a:r>
          </a:p>
          <a:p>
            <a:r>
              <a:rPr lang="en-US" dirty="0"/>
              <a:t>Easy win - use custom metadata type and custom field to set the team size</a:t>
            </a:r>
          </a:p>
          <a:p>
            <a:r>
              <a:rPr lang="en-US" dirty="0"/>
              <a:t>Admins can now adjust the maximum team size without deployment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5B1A9616-7035-2C4C-81C7-2A9E79FEA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2C4B3E0-D161-7D4E-93FC-833DD0B582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90" t="32208" r="8666" b="31366"/>
          <a:stretch>
            <a:fillRect/>
          </a:stretch>
        </p:blipFill>
        <p:spPr>
          <a:xfrm>
            <a:off x="998547" y="4269070"/>
            <a:ext cx="10136938" cy="1194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31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D9A2B9-C858-D2AE-FD39-8C792F47F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252E0D27-382C-CC52-4C77-EC771B7C3D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C063ED-A7C6-2F43-3350-1D5C62896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Lightning Web Component Design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A51D-6888-F7B0-9695-AF1C616C50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Parent-Child Architecture:</a:t>
            </a:r>
          </a:p>
          <a:p>
            <a:pPr lvl="1"/>
            <a:r>
              <a:rPr lang="en-US" dirty="0"/>
              <a:t>Parent: </a:t>
            </a:r>
            <a:r>
              <a:rPr lang="en-US" dirty="0" err="1"/>
              <a:t>missionCommand</a:t>
            </a:r>
            <a:endParaRPr lang="en-US" dirty="0"/>
          </a:p>
          <a:p>
            <a:pPr lvl="1"/>
            <a:r>
              <a:rPr lang="en-US" dirty="0"/>
              <a:t>Child: </a:t>
            </a:r>
            <a:r>
              <a:rPr lang="en-US" dirty="0" err="1"/>
              <a:t>heroCard</a:t>
            </a:r>
            <a:endParaRPr lang="en-US" dirty="0"/>
          </a:p>
          <a:p>
            <a:r>
              <a:rPr lang="en-US" dirty="0"/>
              <a:t>Data flow</a:t>
            </a:r>
          </a:p>
          <a:p>
            <a:pPr lvl="1"/>
            <a:r>
              <a:rPr lang="en-US" dirty="0"/>
              <a:t>Parent owns state, passes to child via @api decorator</a:t>
            </a:r>
          </a:p>
          <a:p>
            <a:pPr lvl="1"/>
            <a:r>
              <a:rPr lang="en-US" dirty="0"/>
              <a:t>@wire service allows for real-time data binding to:</a:t>
            </a:r>
          </a:p>
          <a:p>
            <a:pPr lvl="2"/>
            <a:r>
              <a:rPr lang="en-US" dirty="0" err="1"/>
              <a:t>missionId</a:t>
            </a:r>
            <a:endParaRPr lang="en-US" dirty="0"/>
          </a:p>
          <a:p>
            <a:pPr lvl="2"/>
            <a:r>
              <a:rPr lang="en-US" dirty="0" err="1"/>
              <a:t>powerFilter</a:t>
            </a:r>
            <a:endParaRPr lang="en-US" dirty="0"/>
          </a:p>
          <a:p>
            <a:pPr lvl="1"/>
            <a:r>
              <a:rPr lang="en-US" dirty="0" err="1"/>
              <a:t>refreshApex</a:t>
            </a:r>
            <a:r>
              <a:rPr lang="en-US" dirty="0"/>
              <a:t> after hero deploy/recall</a:t>
            </a:r>
          </a:p>
          <a:p>
            <a:r>
              <a:rPr lang="en-US" dirty="0"/>
              <a:t>Event flow</a:t>
            </a:r>
          </a:p>
          <a:p>
            <a:pPr lvl="1"/>
            <a:r>
              <a:rPr lang="en-US" dirty="0"/>
              <a:t>Children dispatch events</a:t>
            </a:r>
          </a:p>
          <a:p>
            <a:pPr lvl="1"/>
            <a:r>
              <a:rPr lang="en-US" dirty="0"/>
              <a:t>parent handles actions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522C599C-8239-0D63-6D3D-CEADE2F5E4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040C32-5386-5EDF-C34E-08D57AF2C01F}"/>
              </a:ext>
            </a:extLst>
          </p:cNvPr>
          <p:cNvSpPr/>
          <p:nvPr/>
        </p:nvSpPr>
        <p:spPr>
          <a:xfrm>
            <a:off x="6101315" y="1504506"/>
            <a:ext cx="5817781" cy="404031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BACD81-35A6-6FDF-CCBE-FB01161E1AF7}"/>
              </a:ext>
            </a:extLst>
          </p:cNvPr>
          <p:cNvSpPr txBox="1"/>
          <p:nvPr/>
        </p:nvSpPr>
        <p:spPr>
          <a:xfrm>
            <a:off x="8004984" y="1601213"/>
            <a:ext cx="2196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missionCommand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9D3E23-9C24-A3BB-D156-A3420CC0B3EE}"/>
              </a:ext>
            </a:extLst>
          </p:cNvPr>
          <p:cNvSpPr/>
          <p:nvPr/>
        </p:nvSpPr>
        <p:spPr>
          <a:xfrm>
            <a:off x="6711166" y="2066320"/>
            <a:ext cx="1541721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Power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65007C-074A-45BC-0003-A3F94A377A0A}"/>
              </a:ext>
            </a:extLst>
          </p:cNvPr>
          <p:cNvSpPr/>
          <p:nvPr/>
        </p:nvSpPr>
        <p:spPr>
          <a:xfrm>
            <a:off x="9784168" y="2066320"/>
            <a:ext cx="1699436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Deployed: 2/3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E2D7C3B-5273-5796-F273-CF4CAF18A186}"/>
              </a:ext>
            </a:extLst>
          </p:cNvPr>
          <p:cNvGrpSpPr/>
          <p:nvPr/>
        </p:nvGrpSpPr>
        <p:grpSpPr>
          <a:xfrm>
            <a:off x="6707872" y="2738801"/>
            <a:ext cx="1403774" cy="2062716"/>
            <a:chOff x="7107589" y="2876107"/>
            <a:chExt cx="1403774" cy="206271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76B6E47-CE57-325F-9FF6-F296FF90BBFB}"/>
                </a:ext>
              </a:extLst>
            </p:cNvPr>
            <p:cNvSpPr/>
            <p:nvPr/>
          </p:nvSpPr>
          <p:spPr>
            <a:xfrm>
              <a:off x="7107589" y="2876107"/>
              <a:ext cx="1403774" cy="2062716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heroCard</a:t>
              </a:r>
              <a:endParaRPr lang="en-US" dirty="0"/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dirty="0"/>
                <a:t>Name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dirty="0"/>
                <a:t>Image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dirty="0"/>
                <a:t>Status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r>
                <a:rPr lang="en-US" dirty="0"/>
                <a:t>….</a:t>
              </a:r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  <a:p>
              <a:pPr marL="285750" indent="-285750" algn="ctr">
                <a:buFont typeface="Arial" panose="020B0604020202020204" pitchFamily="34" charset="0"/>
                <a:buChar char="•"/>
              </a:pPr>
              <a:endParaRPr lang="en-US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D1ECFEB-E76F-F5E2-8FBF-FE460B12C5BD}"/>
                </a:ext>
              </a:extLst>
            </p:cNvPr>
            <p:cNvSpPr/>
            <p:nvPr/>
          </p:nvSpPr>
          <p:spPr>
            <a:xfrm>
              <a:off x="7306118" y="4401879"/>
              <a:ext cx="1006716" cy="37745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Deploy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EF143B88-BB2C-28CA-6C5D-4E9BB1A569FA}"/>
              </a:ext>
            </a:extLst>
          </p:cNvPr>
          <p:cNvSpPr/>
          <p:nvPr/>
        </p:nvSpPr>
        <p:spPr>
          <a:xfrm>
            <a:off x="8348497" y="2738801"/>
            <a:ext cx="1403774" cy="206271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heroCard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Name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Image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Status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….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5FEFC8E-4C3A-4B28-4150-C608C8098462}"/>
              </a:ext>
            </a:extLst>
          </p:cNvPr>
          <p:cNvSpPr/>
          <p:nvPr/>
        </p:nvSpPr>
        <p:spPr>
          <a:xfrm>
            <a:off x="8547026" y="4264573"/>
            <a:ext cx="1006716" cy="3774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Recall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61AA98-2C6A-8533-2082-ACC82FC97278}"/>
              </a:ext>
            </a:extLst>
          </p:cNvPr>
          <p:cNvSpPr txBox="1"/>
          <p:nvPr/>
        </p:nvSpPr>
        <p:spPr>
          <a:xfrm>
            <a:off x="9936125" y="3280143"/>
            <a:ext cx="11536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C936AE-D58B-B1B6-C1B8-129B243A0889}"/>
              </a:ext>
            </a:extLst>
          </p:cNvPr>
          <p:cNvSpPr txBox="1"/>
          <p:nvPr/>
        </p:nvSpPr>
        <p:spPr>
          <a:xfrm>
            <a:off x="7076438" y="4642029"/>
            <a:ext cx="11536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511FFB-0AF1-4305-7C3B-CB4FBBCEAA1D}"/>
              </a:ext>
            </a:extLst>
          </p:cNvPr>
          <p:cNvSpPr txBox="1"/>
          <p:nvPr/>
        </p:nvSpPr>
        <p:spPr>
          <a:xfrm>
            <a:off x="6994920" y="5562216"/>
            <a:ext cx="3876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Lightning Web Component Wireframe</a:t>
            </a:r>
          </a:p>
        </p:txBody>
      </p:sp>
    </p:spTree>
    <p:extLst>
      <p:ext uri="{BB962C8B-B14F-4D97-AF65-F5344CB8AC3E}">
        <p14:creationId xmlns:p14="http://schemas.microsoft.com/office/powerpoint/2010/main" val="1152315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5CD17-C4E1-C317-C412-E4754DC7D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B46E5488-3799-C76B-E44B-0762D627A1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3D1FA5-A98B-8F35-4773-3F09FB17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Apex Architecture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7DF96-0AB6-1E81-6E18-667CD86BC6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Separation of Concerns:</a:t>
            </a:r>
          </a:p>
          <a:p>
            <a:pPr lvl="1"/>
            <a:r>
              <a:rPr lang="en-US" b="1" dirty="0"/>
              <a:t>Trigger</a:t>
            </a:r>
            <a:r>
              <a:rPr lang="en-US" dirty="0"/>
              <a:t> – routes context to trigger handler; contains no logic</a:t>
            </a:r>
          </a:p>
          <a:p>
            <a:pPr lvl="1"/>
            <a:r>
              <a:rPr lang="en-US" b="1" dirty="0"/>
              <a:t>Handler</a:t>
            </a:r>
            <a:r>
              <a:rPr lang="en-US" dirty="0"/>
              <a:t> – extracts data, orchestrates flow</a:t>
            </a:r>
          </a:p>
          <a:p>
            <a:pPr lvl="1"/>
            <a:r>
              <a:rPr lang="en-US" b="1" dirty="0"/>
              <a:t>Service Layer </a:t>
            </a:r>
            <a:r>
              <a:rPr lang="en-US" dirty="0"/>
              <a:t>– Contains all business rules</a:t>
            </a:r>
          </a:p>
          <a:p>
            <a:pPr lvl="1"/>
            <a:r>
              <a:rPr lang="en-US" b="1" dirty="0"/>
              <a:t>Controller</a:t>
            </a:r>
            <a:r>
              <a:rPr lang="en-US" dirty="0"/>
              <a:t> – serves the LWC</a:t>
            </a:r>
          </a:p>
          <a:p>
            <a:pPr lvl="1"/>
            <a:r>
              <a:rPr lang="en-US" b="1" dirty="0"/>
              <a:t>Wrapper</a:t>
            </a:r>
            <a:r>
              <a:rPr lang="en-US" dirty="0"/>
              <a:t> – inner class in controller helps serve data to LWC in consistent format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7C400113-829C-DD1E-D948-05523F5480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3E8F9B-273A-067E-B0C6-FF14D767458A}"/>
              </a:ext>
            </a:extLst>
          </p:cNvPr>
          <p:cNvSpPr/>
          <p:nvPr/>
        </p:nvSpPr>
        <p:spPr>
          <a:xfrm>
            <a:off x="7207662" y="47556"/>
            <a:ext cx="3489306" cy="1441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Mission Assignment Trigger</a:t>
            </a:r>
          </a:p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(router only, no logic)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before insert → Handler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insert → Handler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delete → Handler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5F8CBE-BC1F-C436-FF8B-087EE825B27C}"/>
              </a:ext>
            </a:extLst>
          </p:cNvPr>
          <p:cNvSpPr/>
          <p:nvPr/>
        </p:nvSpPr>
        <p:spPr>
          <a:xfrm>
            <a:off x="7207662" y="1533837"/>
            <a:ext cx="3489306" cy="1441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Mission Assignment Handler</a:t>
            </a:r>
          </a:p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(Trigger Handler)</a:t>
            </a:r>
          </a:p>
          <a:p>
            <a:r>
              <a:rPr lang="en-US" dirty="0"/>
              <a:t>+ </a:t>
            </a:r>
            <a:r>
              <a:rPr lang="en-US" dirty="0" err="1"/>
              <a:t>handeBeforeInsert</a:t>
            </a:r>
            <a:r>
              <a:rPr lang="en-US" dirty="0"/>
              <a:t>(List)</a:t>
            </a:r>
          </a:p>
          <a:p>
            <a:r>
              <a:rPr lang="en-US" dirty="0"/>
              <a:t>+ </a:t>
            </a:r>
            <a:r>
              <a:rPr lang="en-US" dirty="0" err="1"/>
              <a:t>handleAfterInsert</a:t>
            </a:r>
            <a:r>
              <a:rPr lang="en-US" dirty="0"/>
              <a:t>(List)</a:t>
            </a:r>
          </a:p>
          <a:p>
            <a:r>
              <a:rPr lang="en-US" dirty="0"/>
              <a:t>+ </a:t>
            </a:r>
            <a:r>
              <a:rPr lang="en-US" dirty="0" err="1"/>
              <a:t>handleAfterDelete</a:t>
            </a:r>
            <a:r>
              <a:rPr lang="en-US" dirty="0"/>
              <a:t>(List)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CF8FC0D-5A79-79F5-A67B-B1549B231950}"/>
              </a:ext>
            </a:extLst>
          </p:cNvPr>
          <p:cNvSpPr/>
          <p:nvPr/>
        </p:nvSpPr>
        <p:spPr>
          <a:xfrm>
            <a:off x="7088003" y="3020118"/>
            <a:ext cx="3692212" cy="1441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Mission Assignment Service</a:t>
            </a:r>
          </a:p>
          <a:p>
            <a:pPr algn="ctr"/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(Service Layer)</a:t>
            </a:r>
          </a:p>
          <a:p>
            <a:r>
              <a:rPr lang="en-US" dirty="0"/>
              <a:t>+ </a:t>
            </a:r>
            <a:r>
              <a:rPr lang="en-US" dirty="0" err="1"/>
              <a:t>validateAssignments</a:t>
            </a:r>
            <a:r>
              <a:rPr lang="en-US" dirty="0"/>
              <a:t>(List)</a:t>
            </a:r>
          </a:p>
          <a:p>
            <a:r>
              <a:rPr lang="en-US" dirty="0"/>
              <a:t>+</a:t>
            </a:r>
            <a:r>
              <a:rPr lang="en-US" dirty="0" err="1"/>
              <a:t>updateHeroStatuses</a:t>
            </a:r>
            <a:r>
              <a:rPr lang="en-US" dirty="0"/>
              <a:t>(Set, String)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B385D4F-D89F-8CCD-715C-1BD4984C954E}"/>
              </a:ext>
            </a:extLst>
          </p:cNvPr>
          <p:cNvCxnSpPr>
            <a:stCxn id="9" idx="1"/>
            <a:endCxn id="10" idx="1"/>
          </p:cNvCxnSpPr>
          <p:nvPr/>
        </p:nvCxnSpPr>
        <p:spPr>
          <a:xfrm rot="10800000" flipV="1">
            <a:off x="7207662" y="768417"/>
            <a:ext cx="12700" cy="1486281"/>
          </a:xfrm>
          <a:prstGeom prst="curvedConnector3">
            <a:avLst>
              <a:gd name="adj1" fmla="val 396441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94037A89-93ED-0290-A900-B9716A92AA4A}"/>
              </a:ext>
            </a:extLst>
          </p:cNvPr>
          <p:cNvCxnSpPr>
            <a:stCxn id="10" idx="3"/>
            <a:endCxn id="11" idx="3"/>
          </p:cNvCxnSpPr>
          <p:nvPr/>
        </p:nvCxnSpPr>
        <p:spPr>
          <a:xfrm>
            <a:off x="10696968" y="2254699"/>
            <a:ext cx="83247" cy="1486281"/>
          </a:xfrm>
          <a:prstGeom prst="curvedConnector3">
            <a:avLst>
              <a:gd name="adj1" fmla="val 65763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DDD37D7-2ACD-9C5F-FFEB-693694DDE477}"/>
              </a:ext>
            </a:extLst>
          </p:cNvPr>
          <p:cNvSpPr/>
          <p:nvPr/>
        </p:nvSpPr>
        <p:spPr>
          <a:xfrm>
            <a:off x="7088003" y="4534304"/>
            <a:ext cx="3692212" cy="22761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Mission Command Controller </a:t>
            </a:r>
            <a:r>
              <a:rPr lang="en-US" dirty="0">
                <a:solidFill>
                  <a:schemeClr val="tx2">
                    <a:lumMod val="25000"/>
                    <a:lumOff val="75000"/>
                  </a:schemeClr>
                </a:solidFill>
              </a:rPr>
              <a:t>(LWC Apex Controller)</a:t>
            </a:r>
          </a:p>
          <a:p>
            <a:r>
              <a:rPr lang="en-US" dirty="0"/>
              <a:t>+ </a:t>
            </a:r>
            <a:r>
              <a:rPr lang="en-US" dirty="0" err="1"/>
              <a:t>getMissionDetails</a:t>
            </a:r>
            <a:r>
              <a:rPr lang="en-US" dirty="0"/>
              <a:t>(Id)</a:t>
            </a:r>
          </a:p>
          <a:p>
            <a:r>
              <a:rPr lang="en-US" dirty="0"/>
              <a:t>+ </a:t>
            </a:r>
            <a:r>
              <a:rPr lang="en-US" dirty="0" err="1"/>
              <a:t>getPowerOptions</a:t>
            </a:r>
            <a:r>
              <a:rPr lang="en-US" dirty="0"/>
              <a:t>()</a:t>
            </a:r>
          </a:p>
          <a:p>
            <a:r>
              <a:rPr lang="en-US" dirty="0"/>
              <a:t>+ </a:t>
            </a:r>
            <a:r>
              <a:rPr lang="en-US" dirty="0" err="1"/>
              <a:t>getHeroesForMission</a:t>
            </a:r>
            <a:r>
              <a:rPr lang="en-US" dirty="0"/>
              <a:t>(Id, String)</a:t>
            </a:r>
          </a:p>
          <a:p>
            <a:r>
              <a:rPr lang="en-US" dirty="0"/>
              <a:t>+ </a:t>
            </a:r>
            <a:r>
              <a:rPr lang="en-US" dirty="0" err="1"/>
              <a:t>deployHeroToMission</a:t>
            </a:r>
            <a:r>
              <a:rPr lang="en-US" dirty="0"/>
              <a:t>(Id, Id)</a:t>
            </a:r>
          </a:p>
          <a:p>
            <a:r>
              <a:rPr lang="en-US" dirty="0"/>
              <a:t>+ </a:t>
            </a:r>
            <a:r>
              <a:rPr lang="en-US" dirty="0" err="1"/>
              <a:t>recallHeroFromMission</a:t>
            </a:r>
            <a:r>
              <a:rPr lang="en-US" dirty="0"/>
              <a:t>(Id, Id)</a:t>
            </a:r>
          </a:p>
          <a:p>
            <a:r>
              <a:rPr lang="en-US" dirty="0"/>
              <a:t>(inner) </a:t>
            </a:r>
            <a:r>
              <a:rPr lang="en-US" dirty="0" err="1"/>
              <a:t>HeroWrapper</a:t>
            </a:r>
            <a:endParaRPr lang="en-US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B563FFB2-D2BE-F5EC-791A-DFBECD84A3F6}"/>
              </a:ext>
            </a:extLst>
          </p:cNvPr>
          <p:cNvCxnSpPr>
            <a:stCxn id="18" idx="1"/>
            <a:endCxn id="11" idx="1"/>
          </p:cNvCxnSpPr>
          <p:nvPr/>
        </p:nvCxnSpPr>
        <p:spPr>
          <a:xfrm rot="10800000">
            <a:off x="7088003" y="3740980"/>
            <a:ext cx="12700" cy="1931394"/>
          </a:xfrm>
          <a:prstGeom prst="curvedConnector3">
            <a:avLst>
              <a:gd name="adj1" fmla="val 40969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5A3798-173E-1465-24D8-3D16A92021D8}"/>
              </a:ext>
            </a:extLst>
          </p:cNvPr>
          <p:cNvSpPr txBox="1"/>
          <p:nvPr/>
        </p:nvSpPr>
        <p:spPr>
          <a:xfrm>
            <a:off x="5636541" y="502891"/>
            <a:ext cx="1464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delegates to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142918-90EC-500E-91CD-749967BE6DBB}"/>
              </a:ext>
            </a:extLst>
          </p:cNvPr>
          <p:cNvSpPr txBox="1"/>
          <p:nvPr/>
        </p:nvSpPr>
        <p:spPr>
          <a:xfrm>
            <a:off x="11148869" y="3262630"/>
            <a:ext cx="83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8868DB-2D07-B185-F2EC-41ABBADFFE31}"/>
              </a:ext>
            </a:extLst>
          </p:cNvPr>
          <p:cNvSpPr txBox="1"/>
          <p:nvPr/>
        </p:nvSpPr>
        <p:spPr>
          <a:xfrm>
            <a:off x="6172202" y="3631962"/>
            <a:ext cx="830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calls</a:t>
            </a:r>
          </a:p>
        </p:txBody>
      </p:sp>
    </p:spTree>
    <p:extLst>
      <p:ext uri="{BB962C8B-B14F-4D97-AF65-F5344CB8AC3E}">
        <p14:creationId xmlns:p14="http://schemas.microsoft.com/office/powerpoint/2010/main" val="1743620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C80003-7835-9AB9-458D-FF2A6E9F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20F30A57-851E-A4B9-6918-A9A8649FEB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0D0338-B791-C530-DB5C-8BCA2153C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593188"/>
            <a:ext cx="10515600" cy="1449027"/>
          </a:xfrm>
        </p:spPr>
        <p:txBody>
          <a:bodyPr/>
          <a:lstStyle/>
          <a:p>
            <a:r>
              <a:rPr lang="en-US" b="1" dirty="0"/>
              <a:t>Logic Deep Dive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DCB53-C797-718C-6FBD-DA45AB7E7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042215"/>
            <a:ext cx="10515600" cy="230394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following sequence diagrams display:</a:t>
            </a: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hlinkClick r:id="rId4"/>
              </a:rPr>
              <a:t>Hero deploy flow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hlinkClick r:id="rId5"/>
              </a:rPr>
              <a:t>Hero recall flow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hlinkClick r:id="rId6"/>
              </a:rPr>
              <a:t>Deploy blocked flow</a:t>
            </a:r>
            <a:endParaRPr lang="en-US" sz="2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72AF0F59-9D32-9A9F-1951-41E4E51759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37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E726F-40C9-76E6-2D92-59076928D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96B67482-83AC-AEE0-08B5-B3F1F961BF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1022D3-0718-0F83-E004-19D279BB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593188"/>
            <a:ext cx="10515600" cy="1449027"/>
          </a:xfrm>
        </p:spPr>
        <p:txBody>
          <a:bodyPr/>
          <a:lstStyle/>
          <a:p>
            <a:r>
              <a:rPr lang="en-US" b="1" dirty="0"/>
              <a:t>Live Demo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F3A6C-6BA2-B6C0-48D7-314F6ADDD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042215"/>
            <a:ext cx="10515600" cy="230394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Demo of current functionality, including MVP of hero deployment and instant UI reaction. All business requirements have been implemented, as well as two big quality-of-life enhancements: hero recall and variable team size, adjustable by an administrator.</a:t>
            </a:r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680BDA57-B8E1-DA23-FDC9-989A9E5B6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02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6B206-FF31-E1E6-A7DD-785CDC8D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A427D9CB-8FBC-18A9-4EB8-F65798B325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37CD70D-E865-CAA8-B036-A721E1F66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Future Enhancements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0C518-92CF-9DEC-1CFB-EA906735B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/>
          </a:bodyPr>
          <a:lstStyle/>
          <a:p>
            <a:r>
              <a:rPr lang="en-US" dirty="0"/>
              <a:t>Jests for the LWC</a:t>
            </a:r>
          </a:p>
          <a:p>
            <a:r>
              <a:rPr lang="en-US" dirty="0"/>
              <a:t>Mission Completion Flow</a:t>
            </a:r>
          </a:p>
          <a:p>
            <a:pPr lvl="1"/>
            <a:r>
              <a:rPr lang="en-US" dirty="0"/>
              <a:t>Implement Record-Triggered Flow</a:t>
            </a:r>
          </a:p>
          <a:p>
            <a:pPr lvl="2"/>
            <a:r>
              <a:rPr lang="en-US" dirty="0"/>
              <a:t>When a mission status changes from “In-Progress” to “Complete” </a:t>
            </a:r>
          </a:p>
          <a:p>
            <a:pPr lvl="2"/>
            <a:r>
              <a:rPr lang="en-US" dirty="0"/>
              <a:t>Automatically switch all heroes assigned to that mission back to “Available” status</a:t>
            </a:r>
          </a:p>
          <a:p>
            <a:pPr lvl="2"/>
            <a:r>
              <a:rPr lang="en-US" dirty="0"/>
              <a:t>Not used in real-time UI, so background process is acceptable</a:t>
            </a:r>
          </a:p>
          <a:p>
            <a:r>
              <a:rPr lang="en-US" dirty="0"/>
              <a:t>Injured Hero Recovery Date Flow</a:t>
            </a:r>
          </a:p>
          <a:p>
            <a:pPr lvl="1"/>
            <a:r>
              <a:rPr lang="en-US" dirty="0"/>
              <a:t>Implement Schedule-Triggered Flow</a:t>
            </a:r>
          </a:p>
          <a:p>
            <a:pPr lvl="2"/>
            <a:r>
              <a:rPr lang="en-US" dirty="0"/>
              <a:t>Runs daily and processes all heroes whose recovery date has passed</a:t>
            </a:r>
          </a:p>
          <a:p>
            <a:pPr lvl="2"/>
            <a:r>
              <a:rPr lang="en-US" dirty="0"/>
              <a:t>Automatically switch all heroes from “Injured” to “Available” status</a:t>
            </a:r>
          </a:p>
          <a:p>
            <a:pPr lvl="2"/>
            <a:r>
              <a:rPr lang="en-US" dirty="0"/>
              <a:t>Unchecks the “</a:t>
            </a:r>
            <a:r>
              <a:rPr lang="en-US" dirty="0" err="1"/>
              <a:t>Is_Injured__c</a:t>
            </a:r>
            <a:r>
              <a:rPr lang="en-US" dirty="0"/>
              <a:t>” flag</a:t>
            </a:r>
          </a:p>
          <a:p>
            <a:pPr lvl="2"/>
            <a:r>
              <a:rPr lang="en-US" dirty="0"/>
              <a:t>Sets the “</a:t>
            </a:r>
            <a:r>
              <a:rPr lang="en-US" dirty="0" err="1"/>
              <a:t>Recovery_Date__c</a:t>
            </a:r>
            <a:r>
              <a:rPr lang="en-US" dirty="0"/>
              <a:t>” field to NULL</a:t>
            </a:r>
          </a:p>
          <a:p>
            <a:pPr lvl="2"/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D664CBC7-D306-E95D-3398-6DAF683D2B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957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AAF9E-E345-A456-FE3F-F48D201C2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A9926A3F-E2E4-D554-F927-D9480193CFB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7CC714-A46E-545B-D444-879A70979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54DD9-2471-C2E7-37E3-1CBE13A68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14364" cy="4802187"/>
          </a:xfrm>
        </p:spPr>
        <p:txBody>
          <a:bodyPr>
            <a:normAutofit/>
          </a:bodyPr>
          <a:lstStyle/>
          <a:p>
            <a:r>
              <a:rPr lang="en-US" dirty="0"/>
              <a:t>Clarifying questions helped to keep the implementation simple</a:t>
            </a:r>
          </a:p>
          <a:p>
            <a:r>
              <a:rPr lang="en-US" dirty="0"/>
              <a:t>Identified platform limitations that ruled out most declarative tools</a:t>
            </a:r>
          </a:p>
          <a:p>
            <a:r>
              <a:rPr lang="en-US" dirty="0"/>
              <a:t>Chose Lookup over Master-Detail for concurrency safety</a:t>
            </a:r>
          </a:p>
          <a:p>
            <a:r>
              <a:rPr lang="en-US" dirty="0"/>
              <a:t>Implemented </a:t>
            </a:r>
            <a:r>
              <a:rPr lang="en-US" dirty="0" err="1"/>
              <a:t>TriggerHandler</a:t>
            </a:r>
            <a:r>
              <a:rPr lang="en-US" dirty="0"/>
              <a:t> design pattern instead of simple Trigger for maximum flexibility and ease of future development</a:t>
            </a:r>
          </a:p>
          <a:p>
            <a:r>
              <a:rPr lang="en-US" dirty="0"/>
              <a:t>Developed bulkified Apex with Handler/Service/Wrapper patterns</a:t>
            </a:r>
          </a:p>
          <a:p>
            <a:r>
              <a:rPr lang="en-US" dirty="0"/>
              <a:t>Delivered beyond requirements with Recall functionality (serving dual purpose) and variable team sizing with custom metadata</a:t>
            </a:r>
          </a:p>
          <a:p>
            <a:r>
              <a:rPr lang="en-US" dirty="0"/>
              <a:t>Comprehensive Apex test coverage (93%), ready to deploy</a:t>
            </a:r>
          </a:p>
          <a:p>
            <a:pPr lvl="2"/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FF952C14-372E-BF29-11F5-4DA135D5CF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260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194174-3978-E6DB-6895-A172E448D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white circles&#10;&#10;AI-generated content may be incorrect.">
            <a:extLst>
              <a:ext uri="{FF2B5EF4-FFF2-40B4-BE49-F238E27FC236}">
                <a16:creationId xmlns:a16="http://schemas.microsoft.com/office/drawing/2014/main" id="{FDA474A3-E525-9FC3-A583-D6DFF5C687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4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50498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818ED4-7127-4F25-D987-12AC8202A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123" y="1446789"/>
            <a:ext cx="6732732" cy="1341293"/>
          </a:xfrm>
        </p:spPr>
        <p:txBody>
          <a:bodyPr/>
          <a:lstStyle/>
          <a:p>
            <a:r>
              <a:rPr lang="en-US" b="1" dirty="0"/>
              <a:t>Thank You</a:t>
            </a:r>
            <a:endParaRPr 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D03B5-0AF4-C354-2405-0D8A19216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2989263"/>
            <a:ext cx="11070359" cy="3363690"/>
          </a:xfrm>
        </p:spPr>
        <p:txBody>
          <a:bodyPr>
            <a:normAutofit/>
          </a:bodyPr>
          <a:lstStyle/>
          <a:p>
            <a:pPr lvl="2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Questions?</a:t>
            </a:r>
          </a:p>
          <a:p>
            <a:pPr lvl="2"/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Code is available here: </a:t>
            </a:r>
            <a:r>
              <a:rPr lang="en-US" sz="2400" dirty="0">
                <a:hlinkClick r:id="rId4"/>
              </a:rPr>
              <a:t>https://github.com/andrewdhood/SMBHD/tree/main/src</a:t>
            </a:r>
            <a:endParaRPr lang="en-US" sz="24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Andrew Hood</a:t>
            </a:r>
          </a:p>
          <a:p>
            <a:pPr lvl="2"/>
            <a:r>
              <a:rPr lang="en-US" sz="2400" dirty="0">
                <a:solidFill>
                  <a:schemeClr val="tx1"/>
                </a:solidFill>
              </a:rPr>
              <a:t>281-733-5217</a:t>
            </a:r>
            <a:endParaRPr lang="en-US" sz="2400" dirty="0">
              <a:solidFill>
                <a:schemeClr val="tx1"/>
              </a:solidFill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lvl="2"/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andrewdavidhood@gmail.com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en-US" sz="2400" dirty="0">
                <a:solidFill>
                  <a:srgbClr val="467886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https://www.linkedin.com/in/adhood</a:t>
            </a:r>
            <a:r>
              <a:rPr lang="en-US" sz="2400" dirty="0">
                <a:solidFill>
                  <a:schemeClr val="tx2">
                    <a:lumMod val="75000"/>
                    <a:lumOff val="25000"/>
                  </a:schemeClr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endParaRPr lang="en-US" sz="24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2"/>
            <a:endParaRPr lang="en-US" sz="200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 descr="A blue and white logo&#10;&#10;AI-generated content may be incorrect.">
            <a:extLst>
              <a:ext uri="{FF2B5EF4-FFF2-40B4-BE49-F238E27FC236}">
                <a16:creationId xmlns:a16="http://schemas.microsoft.com/office/drawing/2014/main" id="{C4A3361E-2213-6CA8-66DD-A3C2A415C5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257" y="5702155"/>
            <a:ext cx="881086" cy="949615"/>
          </a:xfrm>
          <a:prstGeom prst="rect">
            <a:avLst/>
          </a:prstGeom>
        </p:spPr>
      </p:pic>
      <p:pic>
        <p:nvPicPr>
          <p:cNvPr id="7" name="Picture 6" descr="A qr code with a dinosaur&#10;&#10;AI-generated content may be incorrect.">
            <a:extLst>
              <a:ext uri="{FF2B5EF4-FFF2-40B4-BE49-F238E27FC236}">
                <a16:creationId xmlns:a16="http://schemas.microsoft.com/office/drawing/2014/main" id="{85891B0B-CBB0-216F-9A25-BFA135711C3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0152" y="1149928"/>
            <a:ext cx="2279072" cy="2279072"/>
          </a:xfrm>
          <a:prstGeom prst="rect">
            <a:avLst/>
          </a:prstGeom>
        </p:spPr>
      </p:pic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6421B27D-8C52-7E5F-8FEB-8566BE8766C5}"/>
              </a:ext>
            </a:extLst>
          </p:cNvPr>
          <p:cNvCxnSpPr>
            <a:cxnSpLocks/>
            <a:endCxn id="7" idx="1"/>
          </p:cNvCxnSpPr>
          <p:nvPr/>
        </p:nvCxnSpPr>
        <p:spPr>
          <a:xfrm rot="5400000" flipH="1" flipV="1">
            <a:off x="8223121" y="2472447"/>
            <a:ext cx="1200014" cy="834048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qr code with a dinosaur&#10;&#10;AI-generated content may be incorrect.">
            <a:extLst>
              <a:ext uri="{FF2B5EF4-FFF2-40B4-BE49-F238E27FC236}">
                <a16:creationId xmlns:a16="http://schemas.microsoft.com/office/drawing/2014/main" id="{9312D1A6-36CF-5C02-5B48-7FA1C51BF3C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1012" y="4240187"/>
            <a:ext cx="2489133" cy="2489133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82C005FB-CE92-2981-4DF7-C606B7AC7709}"/>
              </a:ext>
            </a:extLst>
          </p:cNvPr>
          <p:cNvCxnSpPr>
            <a:cxnSpLocks/>
          </p:cNvCxnSpPr>
          <p:nvPr/>
        </p:nvCxnSpPr>
        <p:spPr>
          <a:xfrm flipV="1">
            <a:off x="6390167" y="5169537"/>
            <a:ext cx="774735" cy="65178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305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1573</Words>
  <Application>Microsoft Office PowerPoint</Application>
  <PresentationFormat>Widescreen</PresentationFormat>
  <Paragraphs>233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Cascadia Mono SemiBold</vt:lpstr>
      <vt:lpstr>Office Theme</vt:lpstr>
      <vt:lpstr>SMBHD Mission Command: Real-Time Hero Deployment in Salesforce</vt:lpstr>
      <vt:lpstr>Justice Alliance Needs</vt:lpstr>
      <vt:lpstr>Functional Requirements</vt:lpstr>
      <vt:lpstr>Technical Requirements</vt:lpstr>
      <vt:lpstr>Clarifying Questions</vt:lpstr>
      <vt:lpstr>Answers and Assumptions</vt:lpstr>
      <vt:lpstr>Architectural Design Considerations</vt:lpstr>
      <vt:lpstr>Limitation #1 – Matching Rules</vt:lpstr>
      <vt:lpstr>Limitation #2 – Roll-Up Summary Timing</vt:lpstr>
      <vt:lpstr>Limitation #3 – Why Not Flow?</vt:lpstr>
      <vt:lpstr>Limitation #4 – Master-Detail Row Locking</vt:lpstr>
      <vt:lpstr>Schema Design</vt:lpstr>
      <vt:lpstr>Custom Metadata</vt:lpstr>
      <vt:lpstr>Lightning Web Component Design</vt:lpstr>
      <vt:lpstr>Apex Architecture</vt:lpstr>
      <vt:lpstr>Logic Deep Dive</vt:lpstr>
      <vt:lpstr>Live Demo</vt:lpstr>
      <vt:lpstr>Proposed Future Enhancements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Hood</dc:creator>
  <cp:lastModifiedBy>Andrew Hood</cp:lastModifiedBy>
  <cp:revision>2</cp:revision>
  <dcterms:created xsi:type="dcterms:W3CDTF">2026-01-20T04:48:43Z</dcterms:created>
  <dcterms:modified xsi:type="dcterms:W3CDTF">2026-01-20T09:08:56Z</dcterms:modified>
</cp:coreProperties>
</file>